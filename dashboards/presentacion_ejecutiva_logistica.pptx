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Pipeline de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E86DE"/>
                </a:solidFill>
                <a:latin typeface="Calibri"/>
              </a:rPr>
              <a:t>Logístico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8F0"/>
                </a:solidFill>
                <a:latin typeface="Calibri"/>
              </a:rPr>
              <a:t>Análisis end-to-end de operaciones de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1554480" cy="365760"/>
          </a:xfrm>
          <a:prstGeom prst="rect">
            <a:avLst/>
          </a:prstGeom>
          <a:solidFill>
            <a:srgbClr val="25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4133087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4114800"/>
            <a:ext cx="1554480" cy="365760"/>
          </a:xfrm>
          <a:prstGeom prst="rect">
            <a:avLst/>
          </a:prstGeom>
          <a:solidFill>
            <a:srgbClr val="25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4133087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SQL · DuckDB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114800"/>
            <a:ext cx="1554480" cy="365760"/>
          </a:xfrm>
          <a:prstGeom prst="rect">
            <a:avLst/>
          </a:prstGeom>
          <a:solidFill>
            <a:srgbClr val="25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4133087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Power BI · DAX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4114800"/>
            <a:ext cx="1554480" cy="365760"/>
          </a:xfrm>
          <a:prstGeom prst="rect">
            <a:avLst/>
          </a:prstGeom>
          <a:solidFill>
            <a:srgbClr val="25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88152" y="4133087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5.000 pedidos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Proyecto 01 — Portfolio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Contexto &amp;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3FD"/>
                </a:solidFill>
                <a:latin typeface="Calibri"/>
              </a:rPr>
              <a:t>¿Qué analizamos y por qué importa?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74C3C"/>
                </a:solidFill>
                <a:latin typeface="Calibri"/>
              </a:rPr>
              <a:t>61.3%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A"/>
                </a:solidFill>
                <a:latin typeface="Calibri"/>
              </a:rPr>
              <a:t>OTD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vs. 85% estándar de industria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Calibri"/>
              </a:rPr>
              <a:t>▼ 24 puntos de brecha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280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A"/>
                </a:solidFill>
                <a:latin typeface="Calibri"/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828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Pérdida de recompra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2402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Clientes que no vuelven tras una entrega fallida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79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19" y="1280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A"/>
                </a:solidFill>
                <a:latin typeface="Calibri"/>
              </a:rPr>
              <a:t>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1828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Costo de atención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2402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Reclamos y seguimientos que escalan el gasto operativo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A"/>
                </a:solidFill>
                <a:latin typeface="Calibri"/>
              </a:rPr>
              <a:t>↩️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28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Devoluciones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402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5.1% de pedidos devueltos — costo doble de logística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87000" y="1188720"/>
            <a:ext cx="18288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1280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A"/>
                </a:solidFill>
                <a:latin typeface="Calibri"/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1828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SLA incumplido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22402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4 de cada 10 pedidos llegan fuera de la fecha prometida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Dataset: 5.000 pedidos sintéticos · 2023–2024 · 5 carriers · 6 zonas geográficas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Hallazgos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3FD"/>
                </a:solidFill>
                <a:latin typeface="Calibri"/>
              </a:rPr>
              <a:t>Lo que los datos revelan sobre la operación logística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64008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527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A"/>
                </a:solidFill>
                <a:latin typeface="Calibri"/>
              </a:rPr>
              <a:t>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Brecha geográfica crítica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48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CABA lidera con 74.8% OTD
vs. Córdoba en 41.1%
→ 34 puntos de diferencia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14300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143000"/>
            <a:ext cx="64008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2527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A"/>
                </a:solidFill>
                <a:latin typeface="Calibr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Carrier ganador claro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148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Andreani: 63.9% OTD
Menor demora (0.14d)
Mejor consistencia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14300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143000"/>
            <a:ext cx="64008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2527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A"/>
                </a:solidFill>
                <a:latin typeface="Calibri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Carrier a reemplazar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148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Correo Argentino: 59.6% OTD
Mayor costo ($1.354)
Peor en ambas métricas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64008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584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A"/>
                </a:solidFill>
                <a:latin typeface="Calibri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Estacionalidad marcada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480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Febrero: 57.8% OTD
Noviembre: 57.4% OTD
Picos de demanda no cubiertos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4747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3474720"/>
            <a:ext cx="64008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584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A"/>
                </a:solidFill>
                <a:latin typeface="Calibri"/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Combinación óptima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480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Rappi Envíos en CABA
alcanza 77.6% OTD
Carriers urbanos &gt; distancia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34747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3474720"/>
            <a:ext cx="64008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3584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A"/>
                </a:solidFill>
                <a:latin typeface="Calibri"/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Costo vs. rendimiento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480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Diferencia de $61 entre
el carrier más caro y el más barato
Sin correlación con calidad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Recomendaciones Ejecutivas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3FD"/>
                </a:solidFill>
                <a:latin typeface="Calibri"/>
              </a:rPr>
              <a:t>5 decisiones concretas para pasar de 61.3% a ~75% OTD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64008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16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  <a:latin typeface="Calibri"/>
              </a:rPr>
              <a:t>🔴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Reasignar Correo Argentino → Andreani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21615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Peor OTD y mayor costo. Sin justificación para mantenerlo.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307592"/>
            <a:ext cx="1554480" cy="530352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13441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6B"/>
                </a:solidFill>
                <a:latin typeface="Calibri"/>
              </a:rPr>
              <a:t>+2 a +3 pts OTD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64008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  <a:latin typeface="Calibri"/>
              </a:rPr>
              <a:t>🔴 ALTA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Regla de carrier por zona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17627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Rappi→CABA · OCA→GBA Norte · Andreani→GBA Sur/Oeste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2267712"/>
            <a:ext cx="1554480" cy="530352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23042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6B"/>
                </a:solidFill>
                <a:latin typeface="Calibri"/>
              </a:rPr>
              <a:t>+5 a +8 pts OTD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63239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63239"/>
            <a:ext cx="64008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363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  <a:latin typeface="Calibri"/>
              </a:rPr>
              <a:t>🔴 ALTA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Intervención urgente en Córdoba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13639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Aumentar plazo prometido a 5d y auditar operador regional.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227832"/>
            <a:ext cx="1554480" cy="530352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2644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6B"/>
                </a:solidFill>
                <a:latin typeface="Calibri"/>
              </a:rPr>
              <a:t>+2 pts OTD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59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23359"/>
            <a:ext cx="64008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9651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  <a:latin typeface="Calibri"/>
              </a:rPr>
              <a:t>🟡 MEDIA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4348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Refuerzo operativo Feb y Nov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09651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Capacidad extra en meses críticos de bajo desempeño.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4187951"/>
            <a:ext cx="1554480" cy="530352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422452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6B"/>
                </a:solidFill>
                <a:latin typeface="Calibri"/>
              </a:rPr>
              <a:t>+1 a +2 pts OTD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79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79"/>
            <a:ext cx="64008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5663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  <a:latin typeface="Calibri"/>
              </a:rPr>
              <a:t>🟡 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9495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Análisis causa raíz de devoluciones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056631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Cruzar devoluciones × categoría antes de actuar operativamente.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5148071"/>
            <a:ext cx="1554480" cy="530352"/>
          </a:xfrm>
          <a:prstGeom prst="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518464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3A6B"/>
                </a:solidFill>
                <a:latin typeface="Calibri"/>
              </a:rPr>
              <a:t>Reducción costos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6B"/>
                </a:solidFill>
                <a:latin typeface="Calibri"/>
              </a:rPr>
              <a:t>Potencial total: +14 puntos de OTD sin inversión tecnológica nueva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Plan de Acción &amp;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3FD"/>
                </a:solidFill>
                <a:latin typeface="Calibri"/>
              </a:rPr>
              <a:t>Hoja de ruta de implementación en 3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Semana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9786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D0FF"/>
                </a:solidFill>
                <a:latin typeface="Calibri"/>
              </a:rPr>
              <a:t>Sin costo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7432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Mapear carriers por zona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Implementar regla de asignación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Ampliar plazo en Córdoba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Reasignar top pedidos Correo Arg.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097280"/>
            <a:ext cx="27432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161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Semana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19786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D0FF"/>
                </a:solidFill>
                <a:latin typeface="Calibri"/>
              </a:rPr>
              <a:t>Monitoreo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00200"/>
            <a:ext cx="27432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Medir OTD diario por carrier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Crear alertas si OTD &lt; 58%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Cruzar devoluciones × categoría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Reunión de revisión con carriers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1097280"/>
            <a:ext cx="2743200" cy="5029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1161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Mes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119786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D0FF"/>
                </a:solidFill>
                <a:latin typeface="Calibri"/>
              </a:rPr>
              <a:t>Negociación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1600200"/>
            <a:ext cx="27432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Presentar datos a carriers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Renegociar SLAs con penalidades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Evaluar operador en Córdoba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Plan de capacidad Feb/Nov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90304" y="1097280"/>
            <a:ext cx="27432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1161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Mes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19104" y="119786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D0FF"/>
                </a:solidFill>
                <a:latin typeface="Calibri"/>
              </a:rPr>
              <a:t>Medición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1600200"/>
            <a:ext cx="27432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Comparar OTD pre vs 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Calcular ahorro en devoluciones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Actualizar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□  Presentar resultados a dirección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34840"/>
            <a:ext cx="11247120" cy="73152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553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  <a:latin typeface="Calibri"/>
              </a:rPr>
              <a:t>Actual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DE"/>
                </a:solidFill>
                <a:latin typeface="Calibri"/>
              </a:rPr>
              <a:t>Mes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Mes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919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OTD Global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4919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  <a:latin typeface="Calibri"/>
              </a:rPr>
              <a:t>61.3%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919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86DE"/>
                </a:solidFill>
                <a:latin typeface="Calibri"/>
              </a:rPr>
              <a:t>68%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919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OTD Córdoba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  <a:latin typeface="Calibri"/>
              </a:rPr>
              <a:t>41.1%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86DE"/>
                </a:solidFill>
                <a:latin typeface="Calibri"/>
              </a:rPr>
              <a:t>55%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65%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687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Tasa Devolución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5687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  <a:latin typeface="Calibri"/>
              </a:rPr>
              <a:t>5.1%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687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86DE"/>
                </a:solidFill>
                <a:latin typeface="Calibri"/>
              </a:rPr>
              <a:t>4.5%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687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3.5%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🔜 Próximas iteraciones del proyecto: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4983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→  Simulación de impacto económico (OTD → $$$)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3766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→  Score de riesgo por pedido (modelo predictivo)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76986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→  Automatización del pipeline (scheduling diario)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